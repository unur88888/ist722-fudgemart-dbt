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4"/>
  </p:notesMasterIdLst>
  <p:handoutMasterIdLst>
    <p:handoutMasterId r:id="rId25"/>
  </p:handoutMasterIdLst>
  <p:sldIdLst>
    <p:sldId id="256" r:id="rId5"/>
    <p:sldId id="295" r:id="rId6"/>
    <p:sldId id="277" r:id="rId7"/>
    <p:sldId id="294" r:id="rId8"/>
    <p:sldId id="296" r:id="rId9"/>
    <p:sldId id="261" r:id="rId10"/>
    <p:sldId id="289" r:id="rId11"/>
    <p:sldId id="262" r:id="rId12"/>
    <p:sldId id="264" r:id="rId13"/>
    <p:sldId id="258" r:id="rId14"/>
    <p:sldId id="278" r:id="rId15"/>
    <p:sldId id="300" r:id="rId16"/>
    <p:sldId id="298" r:id="rId17"/>
    <p:sldId id="268" r:id="rId18"/>
    <p:sldId id="292" r:id="rId19"/>
    <p:sldId id="270" r:id="rId20"/>
    <p:sldId id="301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FE51A5-717D-ED4C-8545-0B54768BA093}" v="762" dt="2026-03-29T07:50:56.496"/>
    <p1510:client id="{20B95404-DD14-6FAA-B029-7B750F226CAD}" v="4" dt="2026-03-29T03:59:40.278"/>
    <p1510:client id="{53C121BA-CA44-7E29-DA27-7951D57CFDF0}" v="543" dt="2026-03-28T17:14:27.854"/>
    <p1510:client id="{A267954A-49D1-4B83-94AC-253966F4E98F}" v="412" dt="2026-03-29T05:20:59.272"/>
    <p1510:client id="{F6FD8CD0-6144-E932-5887-8B75F76CB854}" v="862" dt="2026-03-28T08:07:44.488"/>
    <p1510:client id="{FF076855-A712-F790-A6FA-03F41F9C8181}" v="453" dt="2026-03-29T03:08:22.213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3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6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Fudgemart, Inc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Fudgemart, Inc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  <p:hf sldNum="0"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Fudgemart, Inc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  <p:hf sldNum="0"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Fudgemart, Inc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  <p:hf sldNum="0"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Fudgemart, Inc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  <p:hf sldNum="0"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  <p:hf sldNum="0"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Fudgemart, Inc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  <p:hf sldNum="0"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Fudgemart, Inc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Fudgemart, Inc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Fudgemart, Inc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  <p:hf sldNum="0"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Fudgemart, Inc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and tab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Fudgemart, Inc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034707"/>
      </p:ext>
    </p:extLst>
  </p:cSld>
  <p:clrMapOvr>
    <a:masterClrMapping/>
  </p:clrMapOvr>
  <p:hf sldNum="0"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Fudgemart, Inc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  <p:hf sldNum="0"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Fudgemart, Inc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Fudgemart, Inc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/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Fudgemart, Inc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Fudgemart, Inc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Fudgemart, Inc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Fudgemart, Inc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Fudgemart, Inc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701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0b9770bd-d102-407b-aab5-a482bf777157/9cfb748acde4315f1794?experience=power-bi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1590" y="4390390"/>
            <a:ext cx="4941771" cy="1122202"/>
          </a:xfrm>
        </p:spPr>
        <p:txBody>
          <a:bodyPr/>
          <a:lstStyle/>
          <a:p>
            <a:r>
              <a:rPr lang="en-US" b="1">
                <a:cs typeface="Times New Roman" panose="02020603050405020304" pitchFamily="18" charset="0"/>
              </a:rPr>
              <a:t>IST 722 Group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612290"/>
            <a:ext cx="4941770" cy="39666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b="1" err="1">
                <a:latin typeface="+mj-lt"/>
                <a:cs typeface="Times New Roman"/>
              </a:rPr>
              <a:t>Fudgemart</a:t>
            </a:r>
            <a:r>
              <a:rPr lang="en-US" sz="2800" b="1">
                <a:latin typeface="+mj-lt"/>
                <a:cs typeface="Times New Roman"/>
              </a:rPr>
              <a:t>, Inc.</a:t>
            </a:r>
            <a:endParaRPr lang="en-US" sz="2800" b="1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531A1-51A2-AD80-D394-C7FCE9185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71825" cy="605155"/>
          </a:xfrm>
        </p:spPr>
        <p:txBody>
          <a:bodyPr anchor="b">
            <a:normAutofit/>
          </a:bodyPr>
          <a:lstStyle/>
          <a:p>
            <a:r>
              <a:rPr lang="en-US" b="1">
                <a:cs typeface="Times New Roman" panose="02020603050405020304" pitchFamily="18" charset="0"/>
              </a:rPr>
              <a:t>Agenda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009C6B5-C7E0-EA1A-6D52-6805A3E604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805801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1016000" y="1841501"/>
          <a:ext cx="5670550" cy="4191471"/>
        </p:xfrm>
        <a:graphic>
          <a:graphicData uri="http://schemas.openxmlformats.org/drawingml/2006/table">
            <a:tbl>
              <a:tblPr firstRow="1" bandRow="1">
                <a:noFill/>
                <a:tableStyleId>{7E9639D4-E3E2-4D34-9284-5A2195B3D0D7}</a:tableStyleId>
              </a:tblPr>
              <a:tblGrid>
                <a:gridCol w="560493">
                  <a:extLst>
                    <a:ext uri="{9D8B030D-6E8A-4147-A177-3AD203B41FA5}">
                      <a16:colId xmlns:a16="http://schemas.microsoft.com/office/drawing/2014/main" val="1484905666"/>
                    </a:ext>
                  </a:extLst>
                </a:gridCol>
                <a:gridCol w="5110057">
                  <a:extLst>
                    <a:ext uri="{9D8B030D-6E8A-4147-A177-3AD203B41FA5}">
                      <a16:colId xmlns:a16="http://schemas.microsoft.com/office/drawing/2014/main" val="2184730583"/>
                    </a:ext>
                  </a:extLst>
                </a:gridCol>
              </a:tblGrid>
              <a:tr h="498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j-lt"/>
                        </a:rPr>
                        <a:t>01</a:t>
                      </a:r>
                    </a:p>
                  </a:txBody>
                  <a:tcPr marL="75080" marR="75080" marT="75080" marB="750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lang="en-US" sz="1800" b="0" cap="none" spc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Introduction &amp; Project Goals</a:t>
                      </a:r>
                    </a:p>
                  </a:txBody>
                  <a:tcPr marL="75080" marR="75080" marT="75080" marB="750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72385"/>
                  </a:ext>
                </a:extLst>
              </a:tr>
              <a:tr h="498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j-lt"/>
                        </a:rPr>
                        <a:t>02</a:t>
                      </a:r>
                    </a:p>
                  </a:txBody>
                  <a:tcPr marL="75080" marR="75080" marT="75080" marB="750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Merged Star Schema &amp; Key Assumptions</a:t>
                      </a:r>
                    </a:p>
                  </a:txBody>
                  <a:tcPr marL="75080" marR="75080" marT="75080" marB="750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557258"/>
                  </a:ext>
                </a:extLst>
              </a:tr>
              <a:tr h="498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j-lt"/>
                        </a:rPr>
                        <a:t>03</a:t>
                      </a:r>
                    </a:p>
                  </a:txBody>
                  <a:tcPr marL="75080" marR="75080" marT="75080" marB="750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Data Population Summary (Row Counts)</a:t>
                      </a:r>
                    </a:p>
                  </a:txBody>
                  <a:tcPr marL="75080" marR="75080" marT="75080" marB="750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68734"/>
                  </a:ext>
                </a:extLst>
              </a:tr>
              <a:tr h="691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j-lt"/>
                        </a:rPr>
                        <a:t>04</a:t>
                      </a:r>
                    </a:p>
                  </a:txBody>
                  <a:tcPr marL="75080" marR="75080" marT="75080" marB="750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Analysis Measures (Merged + Company + Category)</a:t>
                      </a:r>
                    </a:p>
                  </a:txBody>
                  <a:tcPr marL="75080" marR="75080" marT="75080" marB="750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6759669"/>
                  </a:ext>
                </a:extLst>
              </a:tr>
              <a:tr h="498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j-lt"/>
                        </a:rPr>
                        <a:t>05</a:t>
                      </a:r>
                    </a:p>
                  </a:txBody>
                  <a:tcPr marL="75080" marR="75080" marT="75080" marB="750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Data Warehouse Overview &amp; Design</a:t>
                      </a:r>
                      <a:endParaRPr lang="en-US" sz="1800" b="0" cap="none" spc="0">
                        <a:solidFill>
                          <a:schemeClr val="tx1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75080" marR="75080" marT="75080" marB="750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748096"/>
                  </a:ext>
                </a:extLst>
              </a:tr>
              <a:tr h="498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j-lt"/>
                        </a:rPr>
                        <a:t>06</a:t>
                      </a:r>
                    </a:p>
                  </a:txBody>
                  <a:tcPr marL="75080" marR="75080" marT="75080" marB="750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ETL &amp; dbt Challenges</a:t>
                      </a:r>
                    </a:p>
                  </a:txBody>
                  <a:tcPr marL="75080" marR="75080" marT="75080" marB="750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768747"/>
                  </a:ext>
                </a:extLst>
              </a:tr>
              <a:tr h="498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j-lt"/>
                        </a:rPr>
                        <a:t>07</a:t>
                      </a:r>
                    </a:p>
                  </a:txBody>
                  <a:tcPr marL="75080" marR="75080" marT="75080" marB="750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BI Insights / Power BI Story</a:t>
                      </a:r>
                    </a:p>
                  </a:txBody>
                  <a:tcPr marL="75080" marR="75080" marT="75080" marB="750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758171"/>
                  </a:ext>
                </a:extLst>
              </a:tr>
              <a:tr h="498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j-lt"/>
                        </a:rPr>
                        <a:t>08</a:t>
                      </a:r>
                    </a:p>
                  </a:txBody>
                  <a:tcPr marL="75080" marR="75080" marT="75080" marB="750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Recommendations &amp; Next Step</a:t>
                      </a:r>
                    </a:p>
                  </a:txBody>
                  <a:tcPr marL="75080" marR="75080" marT="75080" marB="750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7134430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DBD905-0B1E-0B0E-DAA7-E25AFA5C2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Fudgemart, Inc</a:t>
            </a:r>
          </a:p>
        </p:txBody>
      </p:sp>
    </p:spTree>
    <p:extLst>
      <p:ext uri="{BB962C8B-B14F-4D97-AF65-F5344CB8AC3E}">
        <p14:creationId xmlns:p14="http://schemas.microsoft.com/office/powerpoint/2010/main" val="1942784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6"/>
            <a:ext cx="4202806" cy="1050018"/>
          </a:xfrm>
        </p:spPr>
        <p:txBody>
          <a:bodyPr/>
          <a:lstStyle/>
          <a:p>
            <a:r>
              <a:rPr lang="en-US" b="1">
                <a:cs typeface="Times New Roman" panose="02020603050405020304" pitchFamily="18" charset="0"/>
              </a:rPr>
              <a:t>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38697"/>
            <a:ext cx="3337653" cy="319885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1800" err="1">
                <a:cs typeface="Times New Roman"/>
              </a:rPr>
              <a:t>Fudgemart</a:t>
            </a:r>
            <a:r>
              <a:rPr lang="en-US" sz="1800">
                <a:cs typeface="Times New Roman"/>
              </a:rPr>
              <a:t> Inc. is a conglomerate that has merged </a:t>
            </a:r>
            <a:r>
              <a:rPr lang="en-US" sz="1800" err="1">
                <a:cs typeface="Times New Roman"/>
              </a:rPr>
              <a:t>Fudgemart</a:t>
            </a:r>
            <a:r>
              <a:rPr lang="en-US" sz="1800">
                <a:cs typeface="Times New Roman"/>
              </a:rPr>
              <a:t> (online retailer) and </a:t>
            </a:r>
            <a:r>
              <a:rPr lang="en-US" sz="1800" err="1">
                <a:cs typeface="Times New Roman"/>
              </a:rPr>
              <a:t>Fudgeflix</a:t>
            </a:r>
            <a:r>
              <a:rPr lang="en-US" sz="1800">
                <a:cs typeface="Times New Roman"/>
              </a:rPr>
              <a:t> (video on demand) into one company. Our goal is to combine the databases of the two companies and report them to our external customers as a single company.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A2C5B07-6A17-69A8-F70E-366782505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26021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&amp; Project Goals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BDDBF10-E91A-0423-E41F-51B9050BC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&amp; Project Goals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8AD198C-B620-9BCD-81D8-9E26B8BEF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Fudgemart, Inc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4B5D5-FEA6-DBFC-A57B-1664A19E8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9B25A-9C9C-2F76-15E0-710B0A868C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6"/>
            <a:ext cx="4202806" cy="893263"/>
          </a:xfrm>
        </p:spPr>
        <p:txBody>
          <a:bodyPr/>
          <a:lstStyle/>
          <a:p>
            <a:r>
              <a:rPr lang="en-US" b="1">
                <a:cs typeface="Times New Roman" panose="02020603050405020304" pitchFamily="18" charset="0"/>
              </a:rPr>
              <a:t>  Project Goals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5514D0-8B20-1C2F-4AC4-09C85198A1E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764" y="2120397"/>
            <a:ext cx="4682243" cy="40605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cs typeface="Times New Roman"/>
              </a:rPr>
              <a:t>Integrate data from </a:t>
            </a:r>
            <a:r>
              <a:rPr lang="en-US" sz="1800" err="1">
                <a:cs typeface="Times New Roman"/>
              </a:rPr>
              <a:t>Fudgemart</a:t>
            </a:r>
            <a:r>
              <a:rPr lang="en-US" sz="1800">
                <a:cs typeface="Times New Roman"/>
              </a:rPr>
              <a:t> and </a:t>
            </a:r>
            <a:r>
              <a:rPr lang="en-US" sz="1800" err="1">
                <a:cs typeface="Times New Roman"/>
              </a:rPr>
              <a:t>FudgeFlix</a:t>
            </a:r>
            <a:r>
              <a:rPr lang="en-US" sz="1800">
                <a:cs typeface="Times New Roman"/>
              </a:rPr>
              <a:t> 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cs typeface="Times New Roman" panose="02020603050405020304" pitchFamily="18" charset="0"/>
              </a:rPr>
              <a:t> Implement dimensional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cs typeface="Times New Roman" panose="02020603050405020304" pitchFamily="18" charset="0"/>
              </a:rPr>
              <a:t> Build a Snowflake data warehouse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cs typeface="Times New Roman" panose="02020603050405020304" pitchFamily="18" charset="0"/>
              </a:rPr>
              <a:t>Implement ELT pipelines using DBT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cs typeface="Times New Roman"/>
              </a:rPr>
              <a:t>Produce </a:t>
            </a:r>
            <a:r>
              <a:rPr lang="en-US" sz="1800" err="1">
                <a:cs typeface="Times New Roman"/>
              </a:rPr>
              <a:t>PowerBI</a:t>
            </a:r>
            <a:r>
              <a:rPr lang="en-US" sz="1800">
                <a:cs typeface="Times New Roman"/>
              </a:rPr>
              <a:t> dashboard for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ea typeface="+mn-lt"/>
                <a:cs typeface="Times New Roman"/>
              </a:rPr>
              <a:t>Provide a unified view of </a:t>
            </a:r>
            <a:r>
              <a:rPr lang="en-US" sz="1800" err="1">
                <a:ea typeface="+mn-lt"/>
                <a:cs typeface="Times New Roman"/>
              </a:rPr>
              <a:t>Fudgemart</a:t>
            </a:r>
            <a:r>
              <a:rPr lang="en-US" sz="1800">
                <a:ea typeface="+mn-lt"/>
                <a:cs typeface="Times New Roman"/>
              </a:rPr>
              <a:t> and </a:t>
            </a:r>
            <a:r>
              <a:rPr lang="en-US" sz="1800" err="1">
                <a:ea typeface="+mn-lt"/>
                <a:cs typeface="Times New Roman"/>
              </a:rPr>
              <a:t>Fudgeflix</a:t>
            </a:r>
            <a:r>
              <a:rPr lang="en-US" sz="1800">
                <a:ea typeface="+mn-lt"/>
                <a:cs typeface="Times New Roman"/>
              </a:rPr>
              <a:t>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ea typeface="+mn-lt"/>
                <a:cs typeface="Times New Roman"/>
              </a:rPr>
              <a:t>Provide insights into sales and product performance</a:t>
            </a:r>
            <a:endParaRPr lang="en-US" sz="1800">
              <a:cs typeface="Times New Roman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B34CCCF-2A5A-B866-E73D-5C98C8C6CD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90FCDFE-C9C6-579B-0D04-5E139F119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26021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&amp; Project Goals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9F75670-9D3D-1064-4822-7F056BD17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&amp; Project Goals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A25789A-B37A-552F-94CF-18CE5C4F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Fudgemart, Inc</a:t>
            </a:r>
          </a:p>
        </p:txBody>
      </p:sp>
    </p:spTree>
    <p:extLst>
      <p:ext uri="{BB962C8B-B14F-4D97-AF65-F5344CB8AC3E}">
        <p14:creationId xmlns:p14="http://schemas.microsoft.com/office/powerpoint/2010/main" val="2616909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08157-8A1E-8EF6-24EC-A2B232D52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217" y="380728"/>
            <a:ext cx="3653605" cy="794622"/>
          </a:xfrm>
        </p:spPr>
        <p:txBody>
          <a:bodyPr/>
          <a:lstStyle/>
          <a:p>
            <a:r>
              <a:rPr lang="en-US" b="1">
                <a:cs typeface="Times New Roman"/>
              </a:rPr>
              <a:t>Project ROLES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5FF5-FA9D-C921-4D8E-865E51C88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283" y="1373807"/>
            <a:ext cx="6543073" cy="411218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Nicolas Sommer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 – Project Manager &amp; Data Warehouse Engineer</a:t>
            </a:r>
            <a:endParaRPr lang="en-US" sz="1800">
              <a:cs typeface="Times New Roman" panose="02020603050405020304" pitchFamily="18" charset="0"/>
            </a:endParaRPr>
          </a:p>
          <a:p>
            <a:pPr lvl="1"/>
            <a:endParaRPr lang="en-US" sz="1800">
              <a:solidFill>
                <a:srgbClr val="000000"/>
              </a:solidFill>
              <a:highlight>
                <a:srgbClr val="FFFFFF"/>
              </a:highlight>
              <a:cs typeface="Times New Roman" panose="02020603050405020304" pitchFamily="18" charset="0"/>
            </a:endParaRPr>
          </a:p>
          <a:p>
            <a:r>
              <a:rPr lang="en-US" sz="1800" b="1">
                <a:solidFill>
                  <a:srgbClr val="000000"/>
                </a:solidFill>
                <a:highlight>
                  <a:srgbClr val="FFFFFF"/>
                </a:highlight>
                <a:cs typeface="Times New Roman"/>
              </a:rPr>
              <a:t>Nat Roberts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cs typeface="Times New Roman"/>
              </a:rPr>
              <a:t>– Data Modeler (Dimensional Modeling Specialist)</a:t>
            </a:r>
          </a:p>
          <a:p>
            <a:pPr lvl="1"/>
            <a:endParaRPr lang="en-US" sz="1800">
              <a:solidFill>
                <a:srgbClr val="000000"/>
              </a:solidFill>
              <a:highlight>
                <a:srgbClr val="FFFFFF"/>
              </a:highlight>
              <a:cs typeface="Times New Roman" panose="02020603050405020304" pitchFamily="18" charset="0"/>
            </a:endParaRPr>
          </a:p>
          <a:p>
            <a:r>
              <a:rPr lang="en-US" sz="1800" b="1" err="1">
                <a:solidFill>
                  <a:srgbClr val="000000"/>
                </a:solidFill>
                <a:highlight>
                  <a:srgbClr val="FFFFFF"/>
                </a:highlight>
                <a:cs typeface="Times New Roman"/>
              </a:rPr>
              <a:t>Unur</a:t>
            </a:r>
            <a:r>
              <a:rPr lang="en-US" sz="1800" b="1">
                <a:solidFill>
                  <a:srgbClr val="000000"/>
                </a:solidFill>
                <a:highlight>
                  <a:srgbClr val="FFFFFF"/>
                </a:highlight>
                <a:cs typeface="Times New Roman"/>
              </a:rPr>
              <a:t> </a:t>
            </a:r>
            <a:r>
              <a:rPr lang="en-US" sz="1800" b="1" err="1">
                <a:solidFill>
                  <a:srgbClr val="000000"/>
                </a:solidFill>
                <a:highlight>
                  <a:srgbClr val="FFFFFF"/>
                </a:highlight>
                <a:cs typeface="Times New Roman"/>
              </a:rPr>
              <a:t>Gantulga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cs typeface="Times New Roman"/>
              </a:rPr>
              <a:t>– Data Engineer (ETL &amp; Data Validation)</a:t>
            </a:r>
            <a:endParaRPr lang="en-US" sz="1800">
              <a:cs typeface="Times New Roman"/>
            </a:endParaRPr>
          </a:p>
          <a:p>
            <a:pPr lvl="1"/>
            <a:endParaRPr lang="en-US" sz="1800">
              <a:solidFill>
                <a:srgbClr val="000000"/>
              </a:solidFill>
              <a:highlight>
                <a:srgbClr val="FFFFFF"/>
              </a:highlight>
              <a:cs typeface="Times New Roman" panose="02020603050405020304" pitchFamily="18" charset="0"/>
            </a:endParaRPr>
          </a:p>
          <a:p>
            <a:r>
              <a:rPr lang="en-US" sz="1800" b="1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Michael </a:t>
            </a:r>
            <a:r>
              <a:rPr lang="en-US" sz="1800" b="1" err="1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Cardosa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– Business Intelligence Developer</a:t>
            </a:r>
          </a:p>
          <a:p>
            <a:pPr lvl="1"/>
            <a:endParaRPr lang="en-US" sz="1800">
              <a:solidFill>
                <a:srgbClr val="000000"/>
              </a:solidFill>
              <a:highlight>
                <a:srgbClr val="FFFFFF"/>
              </a:highlight>
              <a:cs typeface="Times New Roman" panose="02020603050405020304" pitchFamily="18" charset="0"/>
            </a:endParaRPr>
          </a:p>
          <a:p>
            <a:br>
              <a:rPr lang="en-US" sz="1800">
                <a:cs typeface="Times New Roman" panose="02020603050405020304" pitchFamily="18" charset="0"/>
              </a:rPr>
            </a:br>
            <a:endParaRPr lang="en-US" sz="1800"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C32B5-BC97-1AC8-0F7F-546812CB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323A9AA-6FF4-02E2-2B22-6F4E589E3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Fudgemart, Inc</a:t>
            </a:r>
          </a:p>
        </p:txBody>
      </p:sp>
    </p:spTree>
    <p:extLst>
      <p:ext uri="{BB962C8B-B14F-4D97-AF65-F5344CB8AC3E}">
        <p14:creationId xmlns:p14="http://schemas.microsoft.com/office/powerpoint/2010/main" val="1065061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9419"/>
            <a:ext cx="4082142" cy="585788"/>
          </a:xfrm>
        </p:spPr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STAR SCHEMA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2927CF-1D2E-C7BC-ECAC-1F25D1AFC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128" y="936279"/>
            <a:ext cx="7089018" cy="457154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446F21-8769-DE88-9DC1-E952603CE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Fudgemart, Inc</a:t>
            </a:r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1" y="4156405"/>
            <a:ext cx="4578350" cy="1325563"/>
          </a:xfrm>
        </p:spPr>
        <p:txBody>
          <a:bodyPr>
            <a:normAutofit/>
          </a:bodyPr>
          <a:lstStyle/>
          <a:p>
            <a:r>
              <a:rPr lang="en-US" b="1">
                <a:cs typeface="Times New Roman" panose="02020603050405020304" pitchFamily="18" charset="0"/>
              </a:rPr>
              <a:t>Data Population Summary </a:t>
            </a:r>
            <a:br>
              <a:rPr lang="en-US" b="1">
                <a:cs typeface="Times New Roman" panose="02020603050405020304" pitchFamily="18" charset="0"/>
              </a:rPr>
            </a:br>
            <a:r>
              <a:rPr lang="en-US" b="1">
                <a:cs typeface="Times New Roman" panose="02020603050405020304" pitchFamily="18" charset="0"/>
              </a:rPr>
              <a:t>(Row Counts)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E9632-B267-4713-6FDC-616CE27D261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Fudgemart, Inc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6FF3478D-0027-2DA3-AA8E-8FCDCB7FFB7E}"/>
              </a:ext>
            </a:extLst>
          </p:cNvPr>
          <p:cNvSpPr txBox="1">
            <a:spLocks/>
          </p:cNvSpPr>
          <p:nvPr/>
        </p:nvSpPr>
        <p:spPr>
          <a:xfrm>
            <a:off x="5133704" y="1048230"/>
            <a:ext cx="2519468" cy="298591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err="1">
                <a:cs typeface="Times New Roman"/>
              </a:rPr>
              <a:t>Fudgemart</a:t>
            </a:r>
            <a:endParaRPr lang="en-US" sz="3200">
              <a:cs typeface="Times New Roman"/>
            </a:endParaRPr>
          </a:p>
          <a:p>
            <a:pPr marL="285750" indent="-285750"/>
            <a:r>
              <a:rPr lang="en-US" sz="2000" err="1">
                <a:cs typeface="Times New Roman"/>
              </a:rPr>
              <a:t>fm_customers</a:t>
            </a:r>
            <a:endParaRPr lang="en-US" sz="2000">
              <a:cs typeface="Times New Roman"/>
            </a:endParaRPr>
          </a:p>
          <a:p>
            <a:pPr marL="742950" lvl="1" indent="-285750"/>
            <a:r>
              <a:rPr lang="en-US" sz="1600">
                <a:cs typeface="Times New Roman"/>
              </a:rPr>
              <a:t>Rows = 25</a:t>
            </a:r>
          </a:p>
          <a:p>
            <a:pPr marL="285750" indent="-285750"/>
            <a:r>
              <a:rPr lang="en-US" sz="2000" err="1">
                <a:cs typeface="Times New Roman"/>
              </a:rPr>
              <a:t>fm_products</a:t>
            </a:r>
            <a:endParaRPr lang="en-US" sz="2000">
              <a:cs typeface="Times New Roman"/>
            </a:endParaRPr>
          </a:p>
          <a:p>
            <a:pPr marL="742950" lvl="1" indent="-285750"/>
            <a:r>
              <a:rPr lang="en-US" sz="1600">
                <a:cs typeface="Times New Roman"/>
              </a:rPr>
              <a:t>Rows = 53</a:t>
            </a:r>
          </a:p>
          <a:p>
            <a:pPr marL="285750" indent="-285750"/>
            <a:r>
              <a:rPr lang="en-US" sz="2000" err="1">
                <a:cs typeface="Times New Roman"/>
              </a:rPr>
              <a:t>fm_orders</a:t>
            </a:r>
            <a:endParaRPr lang="en-US" sz="2000">
              <a:cs typeface="Times New Roman"/>
            </a:endParaRPr>
          </a:p>
          <a:p>
            <a:pPr marL="742950" lvl="1" indent="-285750"/>
            <a:r>
              <a:rPr lang="en-US" sz="1600">
                <a:cs typeface="Times New Roman"/>
              </a:rPr>
              <a:t>Rows = 3,516</a:t>
            </a:r>
          </a:p>
          <a:p>
            <a:pPr marL="285750" indent="-285750"/>
            <a:r>
              <a:rPr lang="en-US" sz="2000" err="1">
                <a:cs typeface="Times New Roman"/>
              </a:rPr>
              <a:t>fm_order_details</a:t>
            </a:r>
            <a:endParaRPr lang="en-US" sz="2000">
              <a:cs typeface="Times New Roman"/>
            </a:endParaRPr>
          </a:p>
          <a:p>
            <a:pPr marL="742950" lvl="1" indent="-285750"/>
            <a:r>
              <a:rPr lang="en-US" sz="1600">
                <a:cs typeface="Times New Roman"/>
              </a:rPr>
              <a:t>Rows = 10,466</a:t>
            </a:r>
          </a:p>
          <a:p>
            <a:pPr marL="285750" indent="-285750"/>
            <a:endParaRPr lang="en-US" sz="1600">
              <a:cs typeface="Times New Roman"/>
            </a:endParaRPr>
          </a:p>
          <a:p>
            <a:pPr marL="285750" indent="-285750"/>
            <a:endParaRPr lang="en-US" sz="1600">
              <a:cs typeface="Times New Roman"/>
            </a:endParaRPr>
          </a:p>
          <a:p>
            <a:pPr marL="285750" indent="-285750"/>
            <a:endParaRPr lang="en-US" sz="1600">
              <a:cs typeface="Times New Roman"/>
            </a:endParaRPr>
          </a:p>
          <a:p>
            <a:pPr marL="285750" indent="-285750"/>
            <a:endParaRPr lang="en-US" sz="1600" spc="50">
              <a:solidFill>
                <a:srgbClr val="404040"/>
              </a:solidFill>
              <a:cs typeface="Times New Roman"/>
            </a:endParaRPr>
          </a:p>
          <a:p>
            <a:pPr marL="285750" indent="-285750"/>
            <a:endParaRPr lang="en-US" sz="1600" spc="50">
              <a:solidFill>
                <a:srgbClr val="404040"/>
              </a:solidFill>
              <a:cs typeface="Times New Roman"/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endParaRPr lang="en-US" spc="50">
              <a:solidFill>
                <a:srgbClr val="404040"/>
              </a:solidFill>
              <a:cs typeface="Times New Roman"/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endParaRPr lang="en-US" spc="50">
              <a:solidFill>
                <a:srgbClr val="404040"/>
              </a:solidFill>
              <a:cs typeface="Times New Roman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A02D8B8-B238-CB2B-D9C2-92FD7D503B12}"/>
              </a:ext>
            </a:extLst>
          </p:cNvPr>
          <p:cNvSpPr txBox="1">
            <a:spLocks/>
          </p:cNvSpPr>
          <p:nvPr/>
        </p:nvSpPr>
        <p:spPr>
          <a:xfrm>
            <a:off x="8196093" y="2806667"/>
            <a:ext cx="2519468" cy="29859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err="1">
                <a:cs typeface="Times New Roman"/>
              </a:rPr>
              <a:t>Fudgeflix</a:t>
            </a:r>
            <a:endParaRPr lang="en-US" sz="3200">
              <a:cs typeface="Times New Roman"/>
            </a:endParaRPr>
          </a:p>
          <a:p>
            <a:pPr marL="285750" indent="-285750"/>
            <a:r>
              <a:rPr lang="en-US" sz="2000" err="1">
                <a:cs typeface="Times New Roman"/>
              </a:rPr>
              <a:t>ff_accounts</a:t>
            </a:r>
            <a:endParaRPr lang="en-US" sz="2000">
              <a:cs typeface="Times New Roman"/>
            </a:endParaRPr>
          </a:p>
          <a:p>
            <a:pPr marL="742950" lvl="1" indent="-285750"/>
            <a:r>
              <a:rPr lang="en-US" sz="1600">
                <a:cs typeface="Times New Roman"/>
              </a:rPr>
              <a:t>Rows = 35</a:t>
            </a:r>
          </a:p>
          <a:p>
            <a:pPr marL="285750" indent="-285750"/>
            <a:r>
              <a:rPr lang="en-US" sz="2000" err="1">
                <a:cs typeface="Times New Roman"/>
              </a:rPr>
              <a:t>ff_plans</a:t>
            </a:r>
            <a:endParaRPr lang="en-US" sz="2000">
              <a:cs typeface="Times New Roman"/>
            </a:endParaRPr>
          </a:p>
          <a:p>
            <a:pPr marL="742950" lvl="1" indent="-285750"/>
            <a:r>
              <a:rPr lang="en-US" sz="1600">
                <a:cs typeface="Times New Roman"/>
              </a:rPr>
              <a:t>Rows = 7</a:t>
            </a:r>
          </a:p>
          <a:p>
            <a:pPr marL="285750" indent="-285750"/>
            <a:r>
              <a:rPr lang="en-US" sz="2000" err="1">
                <a:cs typeface="Times New Roman"/>
              </a:rPr>
              <a:t>ff_account_billing</a:t>
            </a:r>
            <a:endParaRPr lang="en-US" sz="2000">
              <a:cs typeface="Times New Roman"/>
            </a:endParaRPr>
          </a:p>
          <a:p>
            <a:pPr marL="742950" lvl="1" indent="-285750"/>
            <a:r>
              <a:rPr lang="en-US" sz="1600">
                <a:cs typeface="Times New Roman"/>
              </a:rPr>
              <a:t>Rows = 1,294</a:t>
            </a:r>
          </a:p>
          <a:p>
            <a:pPr marL="0" indent="0">
              <a:buNone/>
            </a:pPr>
            <a:endParaRPr lang="en-US" sz="2000" spc="50">
              <a:solidFill>
                <a:srgbClr val="404040"/>
              </a:solidFill>
              <a:cs typeface="Times New Roman"/>
            </a:endParaRPr>
          </a:p>
          <a:p>
            <a:pPr marL="285750" indent="-285750"/>
            <a:endParaRPr lang="en-US" sz="2000" spc="50">
              <a:solidFill>
                <a:srgbClr val="404040"/>
              </a:solidFill>
              <a:cs typeface="Times New Roman"/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endParaRPr lang="en-US" sz="3200" spc="50">
              <a:solidFill>
                <a:srgbClr val="404040"/>
              </a:solidFill>
              <a:cs typeface="Times New Roman"/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endParaRPr lang="en-US" sz="3200" spc="50">
              <a:solidFill>
                <a:srgbClr val="404040"/>
              </a:solidFill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5" y="772470"/>
            <a:ext cx="8421688" cy="1325563"/>
          </a:xfrm>
        </p:spPr>
        <p:txBody>
          <a:bodyPr/>
          <a:lstStyle/>
          <a:p>
            <a:pPr algn="l"/>
            <a:r>
              <a:rPr lang="en-US" b="1">
                <a:solidFill>
                  <a:srgbClr val="000000"/>
                </a:solidFill>
                <a:cs typeface="Times New Roman" panose="02020603050405020304" pitchFamily="18" charset="0"/>
              </a:rPr>
              <a:t>Key Assumptions in Merged Data </a:t>
            </a:r>
            <a:endParaRPr lang="en-US" b="1">
              <a:cs typeface="Times New Roman" panose="02020603050405020304" pitchFamily="18" charset="0"/>
            </a:endParaRPr>
          </a:p>
        </p:txBody>
      </p:sp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4380338-B5B5-EDA7-D467-857E7560BF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80026" y="3658367"/>
            <a:ext cx="4031945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cs typeface="Times New Roman"/>
              </a:rPr>
              <a:t>Subscription = Product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F1E429B-492C-D0E6-7C25-74FE6B5F427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90993" y="2596853"/>
            <a:ext cx="7010012" cy="56269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cs typeface="Times New Roman"/>
              </a:rPr>
              <a:t>All customers = </a:t>
            </a:r>
            <a:r>
              <a:rPr lang="en-US" sz="2400" err="1">
                <a:cs typeface="Times New Roman"/>
              </a:rPr>
              <a:t>ff_Accounts</a:t>
            </a:r>
            <a:r>
              <a:rPr lang="en-US" sz="2400">
                <a:cs typeface="Times New Roman"/>
              </a:rPr>
              <a:t> + </a:t>
            </a:r>
            <a:r>
              <a:rPr lang="en-US" sz="2400" err="1">
                <a:cs typeface="Times New Roman"/>
              </a:rPr>
              <a:t>fm_Customers</a:t>
            </a:r>
            <a:endParaRPr lang="en-US" sz="2400">
              <a:cs typeface="Times New Roman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BD887B-5A1B-F7A1-5A00-71D733F46A9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Fudgemart, Inc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787401"/>
            <a:ext cx="7248526" cy="1123950"/>
          </a:xfrm>
        </p:spPr>
        <p:txBody>
          <a:bodyPr>
            <a:noAutofit/>
          </a:bodyPr>
          <a:lstStyle/>
          <a:p>
            <a:r>
              <a:rPr lang="en-US" b="1">
                <a:cs typeface="Times New Roman"/>
              </a:rPr>
              <a:t>Analysis Measures </a:t>
            </a:r>
            <a:br>
              <a:rPr lang="en-US" b="1">
                <a:cs typeface="Times New Roman" panose="02020603050405020304" pitchFamily="18" charset="0"/>
              </a:rPr>
            </a:br>
            <a:r>
              <a:rPr lang="en-US" sz="2400" b="1">
                <a:cs typeface="Times New Roman"/>
              </a:rPr>
              <a:t>(MERGED + Product + Category)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8E25000-DB33-1310-EAE0-F2E76CB40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98625" y="2403474"/>
            <a:ext cx="3911600" cy="36337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err="1">
                <a:cs typeface="Times New Roman"/>
              </a:rPr>
              <a:t>Fudgemart</a:t>
            </a:r>
            <a:r>
              <a:rPr lang="en-US" sz="2400">
                <a:cs typeface="Times New Roman"/>
              </a:rPr>
              <a:t>, Inc. Sales</a:t>
            </a:r>
          </a:p>
          <a:p>
            <a:pPr marL="285750" indent="-285750">
              <a:buChar char="•"/>
            </a:pPr>
            <a:r>
              <a:rPr lang="en-US" sz="1600">
                <a:ea typeface="Calibri"/>
                <a:cs typeface="Times New Roman"/>
              </a:rPr>
              <a:t>Granularity: One row = one product per order</a:t>
            </a:r>
            <a:endParaRPr lang="en-US" sz="1600">
              <a:cs typeface="Times New Roman"/>
            </a:endParaRPr>
          </a:p>
          <a:p>
            <a:pPr marL="285750" indent="-285750">
              <a:buChar char="•"/>
            </a:pPr>
            <a:r>
              <a:rPr lang="en-US" sz="1600">
                <a:cs typeface="Times New Roman"/>
              </a:rPr>
              <a:t>Merged data allows us to look at </a:t>
            </a:r>
            <a:r>
              <a:rPr lang="en-US" sz="1600" err="1">
                <a:cs typeface="Times New Roman"/>
              </a:rPr>
              <a:t>Fudgemart</a:t>
            </a:r>
            <a:r>
              <a:rPr lang="en-US" sz="1600">
                <a:cs typeface="Times New Roman"/>
              </a:rPr>
              <a:t> orders and </a:t>
            </a:r>
            <a:r>
              <a:rPr lang="en-US" sz="1600" err="1">
                <a:cs typeface="Times New Roman"/>
              </a:rPr>
              <a:t>Fudgeflix</a:t>
            </a:r>
            <a:r>
              <a:rPr lang="en-US" sz="1600">
                <a:cs typeface="Times New Roman"/>
              </a:rPr>
              <a:t> transactions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404040"/>
                </a:solidFill>
                <a:cs typeface="Times New Roman"/>
              </a:rPr>
              <a:t>Data available to observe transactions, order details, subscription types, and customer profiles</a:t>
            </a:r>
            <a:endParaRPr lang="en-US" sz="1600" spc="50">
              <a:solidFill>
                <a:srgbClr val="404040"/>
              </a:solidFill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spc="50">
              <a:solidFill>
                <a:srgbClr val="404040"/>
              </a:solidFill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spc="50">
              <a:solidFill>
                <a:srgbClr val="404040"/>
              </a:solidFill>
              <a:cs typeface="Times New Roman"/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endParaRPr lang="en-US" sz="2400" spc="50">
              <a:solidFill>
                <a:srgbClr val="404040"/>
              </a:solidFill>
              <a:cs typeface="Times New Roman"/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endParaRPr lang="en-US" sz="2400" spc="50">
              <a:solidFill>
                <a:srgbClr val="404040"/>
              </a:solidFill>
              <a:cs typeface="Times New Roman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41B88456-C5FB-789B-37B9-2BC7B9878A44}"/>
              </a:ext>
            </a:extLst>
          </p:cNvPr>
          <p:cNvSpPr txBox="1">
            <a:spLocks/>
          </p:cNvSpPr>
          <p:nvPr/>
        </p:nvSpPr>
        <p:spPr>
          <a:xfrm>
            <a:off x="6086475" y="2403474"/>
            <a:ext cx="3613150" cy="27066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cs typeface="Times New Roman"/>
              </a:rPr>
              <a:t>Facts of interest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spc="50">
                <a:solidFill>
                  <a:srgbClr val="404040"/>
                </a:solidFill>
                <a:cs typeface="Times New Roman"/>
              </a:rPr>
              <a:t>Sales totals &amp; quantity per product in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spc="50">
                <a:solidFill>
                  <a:srgbClr val="404040"/>
                </a:solidFill>
                <a:cs typeface="Times New Roman"/>
              </a:rPr>
              <a:t>Sales totals &amp; quantity by product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404040"/>
                </a:solidFill>
                <a:cs typeface="Times New Roman"/>
              </a:rPr>
              <a:t>Sales trends across time</a:t>
            </a:r>
            <a:endParaRPr lang="en-US" sz="1600" spc="50">
              <a:solidFill>
                <a:srgbClr val="404040"/>
              </a:solidFill>
              <a:cs typeface="Times New Roman"/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endParaRPr lang="en-US" sz="2400" spc="50">
              <a:solidFill>
                <a:srgbClr val="404040"/>
              </a:solidFill>
              <a:cs typeface="Times New Roman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1B6AC-A20E-6C7B-FDB6-649827340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Fudgemart, Inc</a:t>
            </a: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3698" y="100"/>
            <a:ext cx="4179570" cy="1715531"/>
          </a:xfrm>
        </p:spPr>
        <p:txBody>
          <a:bodyPr/>
          <a:lstStyle/>
          <a:p>
            <a:r>
              <a:rPr lang="en-US" sz="2800" b="1">
                <a:cs typeface="Times New Roman"/>
              </a:rPr>
              <a:t>DATA WAREHOUSE overview</a:t>
            </a:r>
            <a:endParaRPr lang="en-US" sz="2800" b="1"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2E2AC6-619D-D8AB-0BDB-68169A8F94BE}"/>
              </a:ext>
            </a:extLst>
          </p:cNvPr>
          <p:cNvSpPr txBox="1"/>
          <p:nvPr/>
        </p:nvSpPr>
        <p:spPr>
          <a:xfrm>
            <a:off x="6854080" y="1532491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Data Sources</a:t>
            </a:r>
            <a:endParaRPr 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869334-9976-FE6B-9786-7A10EB938694}"/>
              </a:ext>
            </a:extLst>
          </p:cNvPr>
          <p:cNvSpPr txBox="1"/>
          <p:nvPr/>
        </p:nvSpPr>
        <p:spPr>
          <a:xfrm>
            <a:off x="6851192" y="1799612"/>
            <a:ext cx="2743200" cy="969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300" err="1">
                <a:ea typeface="+mn-lt"/>
                <a:cs typeface="+mn-lt"/>
              </a:rPr>
              <a:t>Fudgemart</a:t>
            </a:r>
            <a:r>
              <a:rPr lang="en-US" sz="1300">
                <a:ea typeface="+mn-lt"/>
                <a:cs typeface="+mn-lt"/>
              </a:rPr>
              <a:t> (retail transactions) </a:t>
            </a:r>
            <a:endParaRPr lang="en-US" sz="1300"/>
          </a:p>
          <a:p>
            <a:pPr marL="285750" indent="-285750">
              <a:buFont typeface="Arial"/>
              <a:buChar char="•"/>
            </a:pPr>
            <a:r>
              <a:rPr lang="en-US" sz="1300" err="1">
                <a:ea typeface="+mn-lt"/>
                <a:cs typeface="+mn-lt"/>
              </a:rPr>
              <a:t>Fudgeflix</a:t>
            </a:r>
            <a:r>
              <a:rPr lang="en-US" sz="1300">
                <a:ea typeface="+mn-lt"/>
                <a:cs typeface="+mn-lt"/>
              </a:rPr>
              <a:t> (subscription &amp; streaming data)</a:t>
            </a:r>
            <a:endParaRPr lang="en-US" sz="1300"/>
          </a:p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B222EB-EA3D-D680-D7D9-1745DF1FE9A6}"/>
              </a:ext>
            </a:extLst>
          </p:cNvPr>
          <p:cNvSpPr txBox="1"/>
          <p:nvPr/>
        </p:nvSpPr>
        <p:spPr>
          <a:xfrm>
            <a:off x="6852946" y="251207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Data Integration</a:t>
            </a:r>
            <a:endParaRPr 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DA1050-9B39-3658-EFC3-F7DAEF212AAC}"/>
              </a:ext>
            </a:extLst>
          </p:cNvPr>
          <p:cNvSpPr txBox="1"/>
          <p:nvPr/>
        </p:nvSpPr>
        <p:spPr>
          <a:xfrm>
            <a:off x="6852843" y="2770461"/>
            <a:ext cx="2743200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Extracted data from Azure SQL source systems </a:t>
            </a:r>
            <a:endParaRPr lang="en-US" sz="1300"/>
          </a:p>
          <a:p>
            <a:pPr marL="285750" indent="-285750"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Loaded data into Snowflake staging tables</a:t>
            </a:r>
            <a:endParaRPr lang="en-US" sz="1300"/>
          </a:p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E2C84A-D68B-65C4-1A0B-1D237030472B}"/>
              </a:ext>
            </a:extLst>
          </p:cNvPr>
          <p:cNvSpPr txBox="1"/>
          <p:nvPr/>
        </p:nvSpPr>
        <p:spPr>
          <a:xfrm>
            <a:off x="6849543" y="367705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Data Modeling</a:t>
            </a:r>
            <a:endParaRPr lang="en-US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0AAD78-F5A6-B864-D666-34A4A86E82C9}"/>
              </a:ext>
            </a:extLst>
          </p:cNvPr>
          <p:cNvSpPr txBox="1"/>
          <p:nvPr/>
        </p:nvSpPr>
        <p:spPr>
          <a:xfrm>
            <a:off x="6847102" y="3933728"/>
            <a:ext cx="2743200" cy="17697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Transformed data into a star schema </a:t>
            </a:r>
            <a:endParaRPr lang="en-US" sz="1300"/>
          </a:p>
          <a:p>
            <a:pPr marL="285750" indent="-285750"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Created dimension tables (</a:t>
            </a:r>
            <a:r>
              <a:rPr lang="en-US" sz="1300" err="1">
                <a:ea typeface="+mn-lt"/>
                <a:cs typeface="+mn-lt"/>
              </a:rPr>
              <a:t>dim_customer</a:t>
            </a:r>
            <a:r>
              <a:rPr lang="en-US" sz="1300">
                <a:ea typeface="+mn-lt"/>
                <a:cs typeface="+mn-lt"/>
              </a:rPr>
              <a:t>, </a:t>
            </a:r>
            <a:r>
              <a:rPr lang="en-US" sz="1300" err="1">
                <a:ea typeface="+mn-lt"/>
                <a:cs typeface="+mn-lt"/>
              </a:rPr>
              <a:t>dim_product</a:t>
            </a:r>
            <a:r>
              <a:rPr lang="en-US" sz="1300">
                <a:ea typeface="+mn-lt"/>
                <a:cs typeface="+mn-lt"/>
              </a:rPr>
              <a:t>, </a:t>
            </a:r>
            <a:r>
              <a:rPr lang="en-US" sz="1300" err="1">
                <a:ea typeface="+mn-lt"/>
                <a:cs typeface="+mn-lt"/>
              </a:rPr>
              <a:t>dim_date</a:t>
            </a:r>
            <a:r>
              <a:rPr lang="en-US" sz="1300">
                <a:ea typeface="+mn-lt"/>
                <a:cs typeface="+mn-lt"/>
              </a:rPr>
              <a:t>) </a:t>
            </a:r>
            <a:endParaRPr lang="en-US" sz="1300"/>
          </a:p>
          <a:p>
            <a:pPr marL="285750" indent="-285750"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Built FACT_SALES as the central fact table</a:t>
            </a:r>
            <a:endParaRPr lang="en-US" sz="1300"/>
          </a:p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44CEE5-BC0F-7A61-7D63-F95C962642BA}"/>
              </a:ext>
            </a:extLst>
          </p:cNvPr>
          <p:cNvSpPr txBox="1"/>
          <p:nvPr/>
        </p:nvSpPr>
        <p:spPr>
          <a:xfrm>
            <a:off x="6847205" y="541351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Data Validation</a:t>
            </a:r>
            <a:endParaRPr lang="en-US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64F869-7592-72A8-0938-D437ACF71245}"/>
              </a:ext>
            </a:extLst>
          </p:cNvPr>
          <p:cNvSpPr txBox="1"/>
          <p:nvPr/>
        </p:nvSpPr>
        <p:spPr>
          <a:xfrm>
            <a:off x="6848751" y="5701265"/>
            <a:ext cx="2743200" cy="969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Verified row counts and joins </a:t>
            </a:r>
            <a:endParaRPr lang="en-US" sz="1300"/>
          </a:p>
          <a:p>
            <a:pPr marL="285750" indent="-285750"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Ensured consistency across sources</a:t>
            </a:r>
            <a:endParaRPr lang="en-US" sz="1300"/>
          </a:p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21077B-3BE8-FC7C-E3FA-840062400A5D}"/>
              </a:ext>
            </a:extLst>
          </p:cNvPr>
          <p:cNvSpPr txBox="1"/>
          <p:nvPr/>
        </p:nvSpPr>
        <p:spPr>
          <a:xfrm>
            <a:off x="422787" y="6093541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/>
              <a:t>Fudgemart</a:t>
            </a:r>
            <a:r>
              <a:rPr lang="en-US"/>
              <a:t> + </a:t>
            </a:r>
            <a:r>
              <a:rPr lang="en-US" err="1"/>
              <a:t>Fudgeflix</a:t>
            </a:r>
            <a:r>
              <a:rPr lang="en-US"/>
              <a:t> → Azure SQL → Snowflake (Staging) → Star Schema → Analytics / BI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3947731" cy="846301"/>
          </a:xfrm>
        </p:spPr>
        <p:txBody>
          <a:bodyPr>
            <a:normAutofit fontScale="90000"/>
          </a:bodyPr>
          <a:lstStyle/>
          <a:p>
            <a:r>
              <a:rPr lang="en-US" b="1">
                <a:cs typeface="Times New Roman"/>
              </a:rPr>
              <a:t>DATA WAREHOUSE DESIGN</a:t>
            </a:r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BBC4CE7-98E6-86CE-355E-535E9CCC5A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2528553"/>
            <a:ext cx="5451635" cy="74476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Stores transaction-level sales data </a:t>
            </a:r>
            <a:endParaRPr lang="en-US" sz="1300"/>
          </a:p>
          <a:p>
            <a:pPr marL="285750" indent="-285750"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Measures: quantity, total sales, product price </a:t>
            </a:r>
            <a:endParaRPr lang="en-US" sz="1300"/>
          </a:p>
          <a:p>
            <a:pPr marL="285750" indent="-285750"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Links to customer, product, and date dimensions</a:t>
            </a:r>
            <a:endParaRPr lang="en-US" sz="1300"/>
          </a:p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5575CFE-17CB-E492-C820-305A819014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7170" y="2248289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FACT_SALES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77A5D2F-1CEE-81AA-9AE2-313B2E5E970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DIM_CUSTOMER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FE689DE-A087-AD20-480B-11500041C23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Contains customer attributes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Integrates customers from both </a:t>
            </a:r>
            <a:r>
              <a:rPr lang="en-US" err="1">
                <a:ea typeface="+mn-lt"/>
                <a:cs typeface="+mn-lt"/>
              </a:rPr>
              <a:t>Fudgemart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 err="1">
                <a:ea typeface="+mn-lt"/>
                <a:cs typeface="+mn-lt"/>
              </a:rPr>
              <a:t>Fudgeflix</a:t>
            </a:r>
            <a:endParaRPr lang="en-US"/>
          </a:p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F56CB53-7639-4F90-0734-D2680478094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7338" y="4634694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DIM_PRODUCT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49C6395-400C-85DE-EAB7-DAC7FA08A26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Contains product and subscription plan details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Supports analysis across different product types</a:t>
            </a:r>
            <a:endParaRPr lang="en-US"/>
          </a:p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110CC5-09B6-56D5-D701-9C7AB1C5F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28" y="1533179"/>
            <a:ext cx="5139568" cy="3314242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DE93E2B5-B450-E1FA-5D8C-A7DD4A36AF76}"/>
              </a:ext>
            </a:extLst>
          </p:cNvPr>
          <p:cNvSpPr txBox="1">
            <a:spLocks/>
          </p:cNvSpPr>
          <p:nvPr/>
        </p:nvSpPr>
        <p:spPr>
          <a:xfrm>
            <a:off x="5917338" y="5554010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/>
              <a:t>DIM_date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AFE4EB-AD5A-3D6B-E2A5-B6C4A81AAD34}"/>
              </a:ext>
            </a:extLst>
          </p:cNvPr>
          <p:cNvSpPr txBox="1"/>
          <p:nvPr/>
        </p:nvSpPr>
        <p:spPr>
          <a:xfrm>
            <a:off x="5919020" y="5916561"/>
            <a:ext cx="5515898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Enables time-based analysis </a:t>
            </a:r>
            <a:endParaRPr lang="en-US" sz="1300"/>
          </a:p>
          <a:p>
            <a:pPr marL="285750" indent="-285750"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Includes year, month, quarter and day breakdown</a:t>
            </a:r>
            <a:endParaRPr lang="en-US" sz="1300"/>
          </a:p>
          <a:p>
            <a:endParaRPr lang="en-US"/>
          </a:p>
          <a:p>
            <a:pPr algn="ctr"/>
            <a:endParaRPr lang="en-US"/>
          </a:p>
        </p:txBody>
      </p:sp>
      <p:pic>
        <p:nvPicPr>
          <p:cNvPr id="9" name="Picture 8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097E5A57-4B25-4309-DC7B-84680DD23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926" y="4998474"/>
            <a:ext cx="3720896" cy="107909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E20FC-10CA-D62E-6666-36F221C49F5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Fudgemart, Inc</a:t>
            </a:r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703F-74E9-01D1-A6AB-303D7C469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A709B-B944-C390-CCF9-6A1FE83A82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646332"/>
            <a:ext cx="4909645" cy="948788"/>
          </a:xfrm>
        </p:spPr>
        <p:txBody>
          <a:bodyPr>
            <a:noAutofit/>
          </a:bodyPr>
          <a:lstStyle/>
          <a:p>
            <a:r>
              <a:rPr lang="en-US" b="1">
                <a:solidFill>
                  <a:schemeClr val="tx1"/>
                </a:solidFill>
                <a:cs typeface="Times New Roman" panose="02020603050405020304" pitchFamily="18" charset="0"/>
              </a:rPr>
              <a:t>Our dbt Workflow: Process Overview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3B68821-024D-B775-6133-214F97AD2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26021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&amp; Project Goals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7B75D41-2F0C-4EC1-7422-2542C421B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&amp; Project Goals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E17A3B-CA11-7EE8-E790-3FD5207D6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256" y="2011680"/>
            <a:ext cx="6684578" cy="4389121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>
                <a:solidFill>
                  <a:schemeClr val="tx1"/>
                </a:solidFill>
                <a:cs typeface="Times New Roman" panose="02020603050405020304" pitchFamily="18" charset="0"/>
              </a:rPr>
              <a:t>Setting up the project structure</a:t>
            </a:r>
          </a:p>
          <a:p>
            <a:r>
              <a:rPr lang="en-US" sz="1700">
                <a:solidFill>
                  <a:schemeClr val="tx1"/>
                </a:solidFill>
                <a:cs typeface="Times New Roman" panose="02020603050405020304" pitchFamily="18" charset="0"/>
              </a:rPr>
              <a:t>Creating staging, dimension, and fact layers following a clean folder and naming convention.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>
                <a:solidFill>
                  <a:schemeClr val="tx1"/>
                </a:solidFill>
                <a:cs typeface="Times New Roman" panose="02020603050405020304" pitchFamily="18" charset="0"/>
              </a:rPr>
              <a:t>Building staging models</a:t>
            </a:r>
          </a:p>
          <a:p>
            <a:r>
              <a:rPr lang="en-US" sz="1700">
                <a:solidFill>
                  <a:schemeClr val="tx1"/>
                </a:solidFill>
                <a:cs typeface="Times New Roman" panose="02020603050405020304" pitchFamily="18" charset="0"/>
              </a:rPr>
              <a:t>Selecting and renaming columns, applying light transformations, and preparing clean inputs for downstream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>
                <a:solidFill>
                  <a:schemeClr val="tx1"/>
                </a:solidFill>
                <a:cs typeface="Times New Roman" panose="02020603050405020304" pitchFamily="18" charset="0"/>
              </a:rPr>
              <a:t>Creating dimension and fact models</a:t>
            </a:r>
          </a:p>
          <a:p>
            <a:r>
              <a:rPr lang="en-US" sz="1700">
                <a:solidFill>
                  <a:schemeClr val="tx1"/>
                </a:solidFill>
                <a:cs typeface="Times New Roman" panose="02020603050405020304" pitchFamily="18" charset="0"/>
              </a:rPr>
              <a:t>Referencing staging models with ref(), applying business logic, and ensuring relationships aligned with the star schema.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>
                <a:solidFill>
                  <a:schemeClr val="tx1"/>
                </a:solidFill>
                <a:cs typeface="Times New Roman" panose="02020603050405020304" pitchFamily="18" charset="0"/>
              </a:rPr>
              <a:t>Validating lineage and consistency</a:t>
            </a:r>
          </a:p>
          <a:p>
            <a:r>
              <a:rPr lang="en-US" sz="1700">
                <a:solidFill>
                  <a:schemeClr val="tx1"/>
                </a:solidFill>
                <a:cs typeface="Times New Roman" panose="02020603050405020304" pitchFamily="18" charset="0"/>
              </a:rPr>
              <a:t>Checking model dependencies, reviewing dbt docs, and confirming naming and assumptions stayed aligned.</a:t>
            </a:r>
          </a:p>
          <a:p>
            <a:endParaRPr lang="en-US"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00D0F-5E49-81EF-FB07-728C1F7EF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Fudgemart, Inc</a:t>
            </a:r>
          </a:p>
        </p:txBody>
      </p:sp>
    </p:spTree>
    <p:extLst>
      <p:ext uri="{BB962C8B-B14F-4D97-AF65-F5344CB8AC3E}">
        <p14:creationId xmlns:p14="http://schemas.microsoft.com/office/powerpoint/2010/main" val="2015471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5403E-E9A6-1259-050E-F13BEDAA3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0EBE63-C63D-14C6-56BE-5AA6AF0A2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284019"/>
            <a:ext cx="8421688" cy="823912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chemeClr val="tx1"/>
                </a:solidFill>
                <a:cs typeface="Times New Roman" panose="02020603050405020304" pitchFamily="18" charset="0"/>
              </a:rPr>
              <a:t>ETL &amp; DATA VALIDATION</a:t>
            </a:r>
            <a:endParaRPr lang="en-US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16467352-A406-A78E-E6D5-1CCC7C7D8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52946"/>
            <a:ext cx="2559050" cy="879764"/>
          </a:xfrm>
        </p:spPr>
        <p:txBody>
          <a:bodyPr/>
          <a:lstStyle/>
          <a:p>
            <a:r>
              <a:rPr lang="en-US" b="1">
                <a:solidFill>
                  <a:schemeClr val="tx1"/>
                </a:solidFill>
                <a:cs typeface="Times New Roman" panose="02020603050405020304" pitchFamily="18" charset="0"/>
              </a:rPr>
              <a:t>Dim_customer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0EE53A-6CA3-4EAF-C54F-1B293DC5E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511" y="2307937"/>
            <a:ext cx="3636818" cy="3356562"/>
          </a:xfrm>
          <a:prstGeom prst="rect">
            <a:avLst/>
          </a:prstGeom>
          <a:noFill/>
        </p:spPr>
      </p:pic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10CF0E8-AE99-F631-A16D-F268733D66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295900" y="1052946"/>
            <a:ext cx="2127250" cy="879764"/>
          </a:xfrm>
        </p:spPr>
        <p:txBody>
          <a:bodyPr/>
          <a:lstStyle/>
          <a:p>
            <a:r>
              <a:rPr lang="en-US" b="1">
                <a:solidFill>
                  <a:schemeClr val="tx1"/>
                </a:solidFill>
                <a:cs typeface="Times New Roman" panose="02020603050405020304" pitchFamily="18" charset="0"/>
              </a:rPr>
              <a:t>Dim_date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348728-7847-0F44-B6CA-3826826F1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280" y="2307937"/>
            <a:ext cx="3636818" cy="3349478"/>
          </a:xfrm>
          <a:prstGeom prst="rect">
            <a:avLst/>
          </a:prstGeom>
          <a:noFill/>
        </p:spPr>
      </p:pic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36AC21D3-6FBD-C2CF-A4A2-67109D961C3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775700" y="1052946"/>
            <a:ext cx="2489200" cy="879764"/>
          </a:xfrm>
        </p:spPr>
        <p:txBody>
          <a:bodyPr/>
          <a:lstStyle/>
          <a:p>
            <a:r>
              <a:rPr lang="en-US" b="1">
                <a:solidFill>
                  <a:schemeClr val="tx1"/>
                </a:solidFill>
                <a:cs typeface="Times New Roman" panose="02020603050405020304" pitchFamily="18" charset="0"/>
              </a:rPr>
              <a:t>Dim_product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0E67D7-3F1F-B267-44D3-0495FA936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671" y="2300853"/>
            <a:ext cx="3750930" cy="3349478"/>
          </a:xfrm>
          <a:prstGeom prst="rect">
            <a:avLst/>
          </a:prstGeom>
          <a:noFill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2CF8171-6E8B-1A93-175D-6E829FAF2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Fudgemart, Inc</a:t>
            </a:r>
          </a:p>
        </p:txBody>
      </p:sp>
    </p:spTree>
    <p:extLst>
      <p:ext uri="{BB962C8B-B14F-4D97-AF65-F5344CB8AC3E}">
        <p14:creationId xmlns:p14="http://schemas.microsoft.com/office/powerpoint/2010/main" val="108325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900"/>
            <a:ext cx="10515600" cy="971550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chemeClr val="tx1"/>
                </a:solidFill>
                <a:cs typeface="Times New Roman" panose="02020603050405020304" pitchFamily="18" charset="0"/>
              </a:rPr>
              <a:t>ETL &amp; DATA VALIDATION</a:t>
            </a:r>
            <a:endParaRPr lang="en-US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08A2F1C-423A-88EE-DACE-8F62193E0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51" y="1625600"/>
            <a:ext cx="5511798" cy="4730750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D04BDDB-E623-7BAC-3B00-66084AEC4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48" y="1676400"/>
            <a:ext cx="5562602" cy="4679950"/>
          </a:xfrm>
          <a:prstGeom prst="rect">
            <a:avLst/>
          </a:prstGeom>
          <a:noFill/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FD38743-C94A-5B9D-4005-E24103FAEBC4}"/>
              </a:ext>
            </a:extLst>
          </p:cNvPr>
          <p:cNvSpPr txBox="1"/>
          <p:nvPr/>
        </p:nvSpPr>
        <p:spPr>
          <a:xfrm>
            <a:off x="2096428" y="1062593"/>
            <a:ext cx="3479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+mj-lt"/>
                <a:cs typeface="Times New Roman" panose="02020603050405020304" pitchFamily="18" charset="0"/>
              </a:rPr>
              <a:t>FACT_SALES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7A1C2B-D1BA-22E2-1885-C06E6E57C501}"/>
              </a:ext>
            </a:extLst>
          </p:cNvPr>
          <p:cNvSpPr txBox="1"/>
          <p:nvPr/>
        </p:nvSpPr>
        <p:spPr>
          <a:xfrm>
            <a:off x="7429500" y="1062593"/>
            <a:ext cx="330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+mj-lt"/>
                <a:cs typeface="Times New Roman" panose="02020603050405020304" pitchFamily="18" charset="0"/>
              </a:rPr>
              <a:t>FULL MODEL LINEAGE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62CB10-FCA1-24F3-E5B2-FC2ADF979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Fudgemart, Inc</a:t>
            </a:r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4BC4F-3D59-464A-857E-6F155B368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342901"/>
            <a:ext cx="8421688" cy="876299"/>
          </a:xfrm>
        </p:spPr>
        <p:txBody>
          <a:bodyPr/>
          <a:lstStyle/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 &amp; dbt Considerations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FA761-70DF-E3E6-98CE-7544A0819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6351" y="3064615"/>
            <a:ext cx="2971800" cy="823912"/>
          </a:xfrm>
        </p:spPr>
        <p:txBody>
          <a:bodyPr/>
          <a:lstStyle/>
          <a:p>
            <a:r>
              <a:rPr lang="en-US" sz="2000" b="1">
                <a:solidFill>
                  <a:schemeClr val="tx1"/>
                </a:solidFill>
                <a:cs typeface="Times New Roman" panose="02020603050405020304" pitchFamily="18" charset="0"/>
              </a:rPr>
              <a:t>Coordinating model dependencies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DFD4772-22F0-80F9-3597-64F7A2ECBC3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679949" y="3012228"/>
            <a:ext cx="2971799" cy="876299"/>
          </a:xfrm>
        </p:spPr>
        <p:txBody>
          <a:bodyPr/>
          <a:lstStyle/>
          <a:p>
            <a:r>
              <a:rPr lang="en-US" sz="2000" b="1">
                <a:solidFill>
                  <a:schemeClr val="tx1"/>
                </a:solidFill>
                <a:cs typeface="Times New Roman" panose="02020603050405020304" pitchFamily="18" charset="0"/>
              </a:rPr>
              <a:t>Keeping staging models consistent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784A51C-02D6-B3CB-53AB-6618D1F75B83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401050" y="2724150"/>
            <a:ext cx="3530600" cy="1670049"/>
          </a:xfrm>
        </p:spPr>
        <p:txBody>
          <a:bodyPr/>
          <a:lstStyle/>
          <a:p>
            <a:pPr algn="l"/>
            <a:r>
              <a:rPr lang="en-US" sz="2000" b="1">
                <a:solidFill>
                  <a:schemeClr val="tx1"/>
                </a:solidFill>
                <a:cs typeface="Times New Roman" panose="02020603050405020304" pitchFamily="18" charset="0"/>
              </a:rPr>
              <a:t>Aligning naming, structure, and assumptions across two companies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9E04AB-8202-251F-43C5-FB7DFAA4C9D1}"/>
              </a:ext>
            </a:extLst>
          </p:cNvPr>
          <p:cNvSpPr txBox="1"/>
          <p:nvPr/>
        </p:nvSpPr>
        <p:spPr>
          <a:xfrm>
            <a:off x="708917" y="4695290"/>
            <a:ext cx="3277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>
                <a:cs typeface="Times New Roman" panose="02020603050405020304" pitchFamily="18" charset="0"/>
              </a:rPr>
              <a:t>Ensuring staging → dimensions → fact models were referenced correctly so dbt built in the right order.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48EC4D-715A-4132-6C56-515197B974BD}"/>
              </a:ext>
            </a:extLst>
          </p:cNvPr>
          <p:cNvSpPr txBox="1"/>
          <p:nvPr/>
        </p:nvSpPr>
        <p:spPr>
          <a:xfrm>
            <a:off x="4530903" y="4695290"/>
            <a:ext cx="32774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>
                <a:cs typeface="Times New Roman" panose="02020603050405020304" pitchFamily="18" charset="0"/>
              </a:rPr>
              <a:t>Aligning structure, naming, and column selection across all staging models for clarity and maintainability.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2C2EFF-95A4-AFE0-15F0-F4F9AD5638A6}"/>
              </a:ext>
            </a:extLst>
          </p:cNvPr>
          <p:cNvSpPr txBox="1"/>
          <p:nvPr/>
        </p:nvSpPr>
        <p:spPr>
          <a:xfrm>
            <a:off x="8401050" y="4695290"/>
            <a:ext cx="30820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>
                <a:cs typeface="Times New Roman" panose="02020603050405020304" pitchFamily="18" charset="0"/>
              </a:rPr>
              <a:t>Ensuring naming conventions and assumptions stayed consistent across models as we built them.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A9A8BB-B944-FBD2-F347-F07AB70AE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Fudgemart, Inc</a:t>
            </a:r>
          </a:p>
        </p:txBody>
      </p:sp>
    </p:spTree>
    <p:extLst>
      <p:ext uri="{BB962C8B-B14F-4D97-AF65-F5344CB8AC3E}">
        <p14:creationId xmlns:p14="http://schemas.microsoft.com/office/powerpoint/2010/main" val="404854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/>
              <a:t>BI Insights / Power BI Story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C0E0A-2715-4BF9-8659-0ED8629B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20XX</a:t>
            </a:r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9C9B457-16E9-22E1-3995-458E7EC22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520" y="2136775"/>
            <a:ext cx="6572957" cy="3697288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5B7B9C-2798-06D4-EA96-F5F4C33206E7}"/>
              </a:ext>
            </a:extLst>
          </p:cNvPr>
          <p:cNvSpPr txBox="1"/>
          <p:nvPr/>
        </p:nvSpPr>
        <p:spPr>
          <a:xfrm>
            <a:off x="1945105" y="1333500"/>
            <a:ext cx="8402052" cy="4010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22E48-E5EA-42FF-96B2-C0B4FDCD3BF3}"/>
              </a:ext>
            </a:extLst>
          </p:cNvPr>
          <p:cNvSpPr txBox="1"/>
          <p:nvPr/>
        </p:nvSpPr>
        <p:spPr>
          <a:xfrm>
            <a:off x="4541921" y="1513973"/>
            <a:ext cx="31181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  <a:hlinkClick r:id="rId3"/>
              </a:rPr>
              <a:t>Group 3_FudgeMart Inc Sales</a:t>
            </a:r>
            <a:endParaRPr lang="en-US">
              <a:hlinkClick r:id="rId3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A73BBE9-25B2-2CE2-271F-3FC394F8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Fudgemart, Inc</a:t>
            </a:r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9694F-9933-13E4-C8ED-574E633AE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2D2C3-BE5C-9FDD-0710-F3F78F08E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/>
          <a:p>
            <a:r>
              <a:rPr lang="en-US"/>
              <a:t>Sales Trends &amp; Analysis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524A0212-D16C-AD25-37F2-1DB0C2120E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1530635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Electronics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1129AE6D-84A2-987E-E257-EDFB16EAC1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1860060"/>
            <a:ext cx="5431971" cy="557950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err="1"/>
              <a:t>Fudgemart</a:t>
            </a:r>
            <a:r>
              <a:rPr lang="en-US"/>
              <a:t> Electronics sales account for 66% of overall sales, due largely to TV sales.  Expanding that portfolio would continue strong sales.</a:t>
            </a:r>
          </a:p>
        </p:txBody>
      </p:sp>
      <p:sp>
        <p:nvSpPr>
          <p:cNvPr id="55" name="Text Placeholder 4">
            <a:extLst>
              <a:ext uri="{FF2B5EF4-FFF2-40B4-BE49-F238E27FC236}">
                <a16:creationId xmlns:a16="http://schemas.microsoft.com/office/drawing/2014/main" id="{BC11A6FF-0BCC-FC74-8022-8BC063EBE5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2630431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Fudgeflix</a:t>
            </a:r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CDD18E0E-74E9-B0F6-5081-C3D5308F163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2959856"/>
            <a:ext cx="5431971" cy="557950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/>
              <a:t>Compared to overall sales, </a:t>
            </a:r>
            <a:r>
              <a:rPr lang="en-US" err="1"/>
              <a:t>Fudgeflix</a:t>
            </a:r>
            <a:r>
              <a:rPr lang="en-US"/>
              <a:t> is only holding a .3% share.  Consider options to expand to </a:t>
            </a:r>
            <a:r>
              <a:rPr lang="en-US" err="1"/>
              <a:t>Fudgemart</a:t>
            </a:r>
            <a:r>
              <a:rPr lang="en-US"/>
              <a:t> customers who currently do not use the service, such as discounts.</a:t>
            </a:r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DE482146-BDB5-4509-3E2C-B9EC923F0AD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3730227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Year-over-Year Sales 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1C86985E-3CD7-887D-D392-164169744ED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1828" y="4059652"/>
            <a:ext cx="5431971" cy="5579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Although minimal, year-over-year sales have been trending downwards.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04AC4-E265-FAD9-32E6-777ED81F5514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20XX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BE0CDED-E62F-CE6B-97D8-AD072AB48BC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Fudgemart, Inc</a:t>
            </a:r>
          </a:p>
        </p:txBody>
      </p:sp>
    </p:spTree>
    <p:extLst>
      <p:ext uri="{BB962C8B-B14F-4D97-AF65-F5344CB8AC3E}">
        <p14:creationId xmlns:p14="http://schemas.microsoft.com/office/powerpoint/2010/main" val="1098655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6201" y="1671673"/>
            <a:ext cx="5111750" cy="1204912"/>
          </a:xfrm>
        </p:spPr>
        <p:txBody>
          <a:bodyPr/>
          <a:lstStyle/>
          <a:p>
            <a:r>
              <a:rPr lang="en-US" b="1">
                <a:cs typeface="Times New Roman" panose="02020603050405020304" pitchFamily="18" charset="0"/>
              </a:rPr>
              <a:t>Recommendations </a:t>
            </a:r>
            <a:br>
              <a:rPr lang="en-US" b="1">
                <a:cs typeface="Times New Roman" panose="02020603050405020304" pitchFamily="18" charset="0"/>
              </a:rPr>
            </a:br>
            <a:r>
              <a:rPr lang="en-US" b="1">
                <a:cs typeface="Times New Roman" panose="02020603050405020304" pitchFamily="18" charset="0"/>
              </a:rPr>
              <a:t>&amp; Next Step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8C8B5-F6EC-489B-BD0F-CD89A73C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3887367-30C2-89D9-2063-EFAB48F6B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85817" y="2876585"/>
            <a:ext cx="4672134" cy="34818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endParaRPr lang="en-US">
              <a:solidFill>
                <a:schemeClr val="tx1"/>
              </a:solidFill>
              <a:cs typeface="Times New Roman"/>
            </a:endParaRPr>
          </a:p>
          <a:p>
            <a:pPr marL="285750" indent="-285750">
              <a:buChar char="•"/>
            </a:pPr>
            <a:r>
              <a:rPr lang="en-US" sz="2000">
                <a:solidFill>
                  <a:schemeClr val="tx1"/>
                </a:solidFill>
                <a:cs typeface="Times New Roman"/>
              </a:rPr>
              <a:t>Additional Fact Tables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 err="1">
                <a:solidFill>
                  <a:schemeClr val="tx1"/>
                </a:solidFill>
                <a:cs typeface="Times New Roman"/>
              </a:rPr>
              <a:t>Fudgeflix</a:t>
            </a:r>
            <a:r>
              <a:rPr lang="en-US" sz="1600">
                <a:solidFill>
                  <a:schemeClr val="tx1"/>
                </a:solidFill>
                <a:cs typeface="Times New Roman"/>
              </a:rPr>
              <a:t> rental trends by account type</a:t>
            </a: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en-US" sz="1400">
                <a:solidFill>
                  <a:schemeClr val="tx1"/>
                </a:solidFill>
                <a:cs typeface="Times New Roman"/>
              </a:rPr>
              <a:t>Top 5 rentals among types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 err="1">
                <a:solidFill>
                  <a:schemeClr val="tx1"/>
                </a:solidFill>
                <a:cs typeface="Times New Roman"/>
              </a:rPr>
              <a:t>Fudgemart</a:t>
            </a:r>
            <a:r>
              <a:rPr lang="en-US" sz="1600">
                <a:solidFill>
                  <a:schemeClr val="tx1"/>
                </a:solidFill>
                <a:cs typeface="Times New Roman"/>
              </a:rPr>
              <a:t> review summaries by product type/category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 err="1">
                <a:solidFill>
                  <a:schemeClr val="tx1"/>
                </a:solidFill>
                <a:cs typeface="Times New Roman"/>
              </a:rPr>
              <a:t>Fudgeflix</a:t>
            </a:r>
            <a:r>
              <a:rPr lang="en-US" sz="1600">
                <a:solidFill>
                  <a:schemeClr val="tx1"/>
                </a:solidFill>
                <a:cs typeface="Times New Roman"/>
              </a:rPr>
              <a:t> payroll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spc="0">
                <a:solidFill>
                  <a:schemeClr val="tx1"/>
                </a:solidFill>
                <a:cs typeface="Times New Roman"/>
              </a:rPr>
              <a:t>Additional Data Needed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 err="1">
                <a:solidFill>
                  <a:schemeClr val="tx1"/>
                </a:solidFill>
                <a:cs typeface="Times New Roman"/>
              </a:rPr>
              <a:t>Fudgeflix</a:t>
            </a:r>
            <a:r>
              <a:rPr lang="en-US" sz="1600">
                <a:solidFill>
                  <a:schemeClr val="tx1"/>
                </a:solidFill>
                <a:cs typeface="Times New Roman"/>
              </a:rPr>
              <a:t> employee data</a:t>
            </a:r>
            <a:endParaRPr lang="en-US" sz="1600" spc="0">
              <a:solidFill>
                <a:schemeClr val="tx1"/>
              </a:solidFill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pc="0">
              <a:solidFill>
                <a:schemeClr val="tx1"/>
              </a:solidFill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endParaRPr lang="en-US">
              <a:solidFill>
                <a:schemeClr val="tx1"/>
              </a:solidFill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endParaRPr lang="en-US">
              <a:solidFill>
                <a:schemeClr val="tx1"/>
              </a:solidFill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227960-4577-AEAF-8781-9106B718E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Fudgemart, Inc</a:t>
            </a:r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28E95FCF93A441AD8C9515998DE3CC" ma:contentTypeVersion="10" ma:contentTypeDescription="Create a new document." ma:contentTypeScope="" ma:versionID="c343e30baf861c58c398325e6bc1bf3d">
  <xsd:schema xmlns:xsd="http://www.w3.org/2001/XMLSchema" xmlns:xs="http://www.w3.org/2001/XMLSchema" xmlns:p="http://schemas.microsoft.com/office/2006/metadata/properties" xmlns:ns3="df99608e-a30d-4882-82e7-8b55334bbf1a" targetNamespace="http://schemas.microsoft.com/office/2006/metadata/properties" ma:root="true" ma:fieldsID="061ec4fb726724be926181463043ce00" ns3:_="">
    <xsd:import namespace="df99608e-a30d-4882-82e7-8b55334bbf1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99608e-a30d-4882-82e7-8b55334bbf1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f99608e-a30d-4882-82e7-8b55334bbf1a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9B6141-735F-41BA-9690-CBFF25BF8146}">
  <ds:schemaRefs>
    <ds:schemaRef ds:uri="df99608e-a30d-4882-82e7-8b55334bbf1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df99608e-a30d-4882-82e7-8b55334bbf1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{15DAE30D-0215-469D-8CCE-D239B94AD075}TF1ed81438-95a7-4ae9-841d-43ea2c64f7fc8ae7ff09_win32-aa52a5bb69e3</Template>
  <Application>Microsoft Office PowerPoint</Application>
  <PresentationFormat>Widescreen</PresentationFormat>
  <Slides>19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Monoline</vt:lpstr>
      <vt:lpstr>IST 722 Group 3</vt:lpstr>
      <vt:lpstr>Agenda</vt:lpstr>
      <vt:lpstr> Introduction</vt:lpstr>
      <vt:lpstr>  Project Goals</vt:lpstr>
      <vt:lpstr>Project ROLES</vt:lpstr>
      <vt:lpstr>STAR SCHEMA</vt:lpstr>
      <vt:lpstr>Data Population Summary  (Row Counts)</vt:lpstr>
      <vt:lpstr>Key Assumptions in Merged Data </vt:lpstr>
      <vt:lpstr>Analysis Measures  (MERGED + Product + Category)</vt:lpstr>
      <vt:lpstr>DATA WAREHOUSE overview</vt:lpstr>
      <vt:lpstr>DATA WAREHOUSE DESIGN</vt:lpstr>
      <vt:lpstr>Our dbt Workflow: Process Overview</vt:lpstr>
      <vt:lpstr>ETL &amp; DATA VALIDATION</vt:lpstr>
      <vt:lpstr>ETL &amp; DATA VALIDATION</vt:lpstr>
      <vt:lpstr>ETL &amp; dbt Considerations</vt:lpstr>
      <vt:lpstr>BI Insights / Power BI Story</vt:lpstr>
      <vt:lpstr>Sales Trends &amp; Analysis</vt:lpstr>
      <vt:lpstr>Recommendations  &amp; Next Step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Unur Gantulga</dc:creator>
  <cp:revision>3</cp:revision>
  <dcterms:created xsi:type="dcterms:W3CDTF">2026-03-27T22:21:05Z</dcterms:created>
  <dcterms:modified xsi:type="dcterms:W3CDTF">2026-03-29T15:44:16Z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0x0101002428E95FCF93A441AD8C9515998DE3CC</vt:lpwstr>
  </property>
</Properties>
</file>